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Knewave"/>
      <p:regular r:id="rId14"/>
    </p:embeddedFont>
    <p:embeddedFont>
      <p:font typeface="Sansit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NvqTiNiDXji1NLPaF6l+4rzsx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ansita-regular.fntdata"/><Relationship Id="rId14" Type="http://schemas.openxmlformats.org/officeDocument/2006/relationships/font" Target="fonts/Knewave-regular.fntdata"/><Relationship Id="rId17" Type="http://schemas.openxmlformats.org/officeDocument/2006/relationships/font" Target="fonts/Sansita-italic.fntdata"/><Relationship Id="rId16" Type="http://schemas.openxmlformats.org/officeDocument/2006/relationships/font" Target="fonts/Sansita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Sansit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5400000">
            <a:off x="4000500" y="-5143500"/>
            <a:ext cx="10287000" cy="20574000"/>
          </a:xfrm>
          <a:custGeom>
            <a:rect b="b" l="l" r="r" t="t"/>
            <a:pathLst>
              <a:path extrusionOk="0" h="20574000" w="10287000">
                <a:moveTo>
                  <a:pt x="0" y="0"/>
                </a:moveTo>
                <a:lnTo>
                  <a:pt x="10287000" y="0"/>
                </a:lnTo>
                <a:lnTo>
                  <a:pt x="10287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10800000">
            <a:off x="0" y="0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631468" y="5255742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flipH="1" rot="1673250">
            <a:off x="14559139" y="1053997"/>
            <a:ext cx="3232050" cy="1604272"/>
          </a:xfrm>
          <a:custGeom>
            <a:rect b="b" l="l" r="r" t="t"/>
            <a:pathLst>
              <a:path extrusionOk="0" h="1604272" w="3232050">
                <a:moveTo>
                  <a:pt x="3232050" y="0"/>
                </a:moveTo>
                <a:lnTo>
                  <a:pt x="0" y="0"/>
                </a:lnTo>
                <a:lnTo>
                  <a:pt x="0" y="1604272"/>
                </a:lnTo>
                <a:lnTo>
                  <a:pt x="3232050" y="1604272"/>
                </a:lnTo>
                <a:lnTo>
                  <a:pt x="323205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4751601" y="7416711"/>
            <a:ext cx="8784799" cy="1337910"/>
            <a:chOff x="0" y="-38100"/>
            <a:chExt cx="2918615" cy="444500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918615" cy="406400"/>
            </a:xfrm>
            <a:custGeom>
              <a:rect b="b" l="l" r="r" t="t"/>
              <a:pathLst>
                <a:path extrusionOk="0" h="406400" w="2918615">
                  <a:moveTo>
                    <a:pt x="2715415" y="0"/>
                  </a:moveTo>
                  <a:cubicBezTo>
                    <a:pt x="2827639" y="0"/>
                    <a:pt x="2918615" y="90976"/>
                    <a:pt x="2918615" y="203200"/>
                  </a:cubicBezTo>
                  <a:cubicBezTo>
                    <a:pt x="2918615" y="315424"/>
                    <a:pt x="2827639" y="406400"/>
                    <a:pt x="271541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B9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2918615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13104104" y="2258163"/>
            <a:ext cx="1062827" cy="1062827"/>
          </a:xfrm>
          <a:custGeom>
            <a:rect b="b" l="l" r="r" t="t"/>
            <a:pathLst>
              <a:path extrusionOk="0" h="1062827" w="1062827">
                <a:moveTo>
                  <a:pt x="0" y="0"/>
                </a:moveTo>
                <a:lnTo>
                  <a:pt x="1062827" y="0"/>
                </a:lnTo>
                <a:lnTo>
                  <a:pt x="1062827" y="1062826"/>
                </a:lnTo>
                <a:lnTo>
                  <a:pt x="0" y="1062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2565006" y="5434179"/>
            <a:ext cx="1111026" cy="1111026"/>
          </a:xfrm>
          <a:custGeom>
            <a:rect b="b" l="l" r="r" t="t"/>
            <a:pathLst>
              <a:path extrusionOk="0" h="1111026" w="1111026">
                <a:moveTo>
                  <a:pt x="0" y="0"/>
                </a:moveTo>
                <a:lnTo>
                  <a:pt x="1111026" y="0"/>
                </a:lnTo>
                <a:lnTo>
                  <a:pt x="1111026" y="1111026"/>
                </a:lnTo>
                <a:lnTo>
                  <a:pt x="0" y="11110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4371623" y="3693879"/>
            <a:ext cx="532219" cy="532219"/>
          </a:xfrm>
          <a:custGeom>
            <a:rect b="b" l="l" r="r" t="t"/>
            <a:pathLst>
              <a:path extrusionOk="0" h="532219" w="532219">
                <a:moveTo>
                  <a:pt x="0" y="0"/>
                </a:moveTo>
                <a:lnTo>
                  <a:pt x="532219" y="0"/>
                </a:lnTo>
                <a:lnTo>
                  <a:pt x="532219" y="532219"/>
                </a:lnTo>
                <a:lnTo>
                  <a:pt x="0" y="532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3659236" y="6869055"/>
            <a:ext cx="531512" cy="531512"/>
          </a:xfrm>
          <a:custGeom>
            <a:rect b="b" l="l" r="r" t="t"/>
            <a:pathLst>
              <a:path extrusionOk="0" h="531512" w="531512">
                <a:moveTo>
                  <a:pt x="0" y="0"/>
                </a:moveTo>
                <a:lnTo>
                  <a:pt x="531512" y="0"/>
                </a:lnTo>
                <a:lnTo>
                  <a:pt x="531512" y="531512"/>
                </a:lnTo>
                <a:lnTo>
                  <a:pt x="0" y="5315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3391648" y="2869814"/>
            <a:ext cx="10667388" cy="3675826"/>
          </a:xfrm>
          <a:custGeom>
            <a:rect b="b" l="l" r="r" t="t"/>
            <a:pathLst>
              <a:path extrusionOk="0" h="3675826" w="10667388">
                <a:moveTo>
                  <a:pt x="0" y="0"/>
                </a:moveTo>
                <a:lnTo>
                  <a:pt x="10667389" y="0"/>
                </a:lnTo>
                <a:lnTo>
                  <a:pt x="10667389" y="3675826"/>
                </a:lnTo>
                <a:lnTo>
                  <a:pt x="0" y="3675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7108" l="0" r="-8372" t="-107397"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3659236" y="7733508"/>
            <a:ext cx="10978497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Isabela, Mirella, Nicolas, Pedro Henrique </a:t>
            </a:r>
            <a:endParaRPr/>
          </a:p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Sofia </a:t>
            </a:r>
            <a:endParaRPr/>
          </a:p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 rot="393966">
            <a:off x="823236" y="6627517"/>
            <a:ext cx="1589776" cy="2749613"/>
          </a:xfrm>
          <a:custGeom>
            <a:rect b="b" l="l" r="r" t="t"/>
            <a:pathLst>
              <a:path extrusionOk="0" h="2749613" w="1589776">
                <a:moveTo>
                  <a:pt x="0" y="0"/>
                </a:moveTo>
                <a:lnTo>
                  <a:pt x="1589776" y="0"/>
                </a:lnTo>
                <a:lnTo>
                  <a:pt x="1589776" y="2749612"/>
                </a:lnTo>
                <a:lnTo>
                  <a:pt x="0" y="2749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 rot="-5400000">
            <a:off x="5081089" y="-2420628"/>
            <a:ext cx="8638930" cy="17277861"/>
          </a:xfrm>
          <a:custGeom>
            <a:rect b="b" l="l" r="r" t="t"/>
            <a:pathLst>
              <a:path extrusionOk="0" h="17277861" w="8638930">
                <a:moveTo>
                  <a:pt x="0" y="0"/>
                </a:moveTo>
                <a:lnTo>
                  <a:pt x="8638931" y="0"/>
                </a:lnTo>
                <a:lnTo>
                  <a:pt x="8638931" y="17277861"/>
                </a:lnTo>
                <a:lnTo>
                  <a:pt x="0" y="172778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3593260" y="6180654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9" y="0"/>
                </a:lnTo>
                <a:lnTo>
                  <a:pt x="5682119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4951336" y="2216084"/>
            <a:ext cx="675129" cy="675129"/>
          </a:xfrm>
          <a:custGeom>
            <a:rect b="b" l="l" r="r" t="t"/>
            <a:pathLst>
              <a:path extrusionOk="0" h="675129" w="675129">
                <a:moveTo>
                  <a:pt x="0" y="0"/>
                </a:moveTo>
                <a:lnTo>
                  <a:pt x="675130" y="0"/>
                </a:lnTo>
                <a:lnTo>
                  <a:pt x="675130" y="675129"/>
                </a:lnTo>
                <a:lnTo>
                  <a:pt x="0" y="675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11538613" y="1028700"/>
            <a:ext cx="3750288" cy="3757119"/>
          </a:xfrm>
          <a:custGeom>
            <a:rect b="b" l="l" r="r" t="t"/>
            <a:pathLst>
              <a:path extrusionOk="0" h="3757119" w="3750288">
                <a:moveTo>
                  <a:pt x="0" y="0"/>
                </a:moveTo>
                <a:lnTo>
                  <a:pt x="3750288" y="0"/>
                </a:lnTo>
                <a:lnTo>
                  <a:pt x="3750288" y="3757119"/>
                </a:lnTo>
                <a:lnTo>
                  <a:pt x="0" y="3757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 rot="4271008">
            <a:off x="-3260749" y="6180654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2009688" y="2486973"/>
            <a:ext cx="9348628" cy="598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8EFF4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0" i="1" lang="en-US" sz="3399" u="none" cap="none" strike="noStrike">
                <a:solidFill>
                  <a:srgbClr val="E8EFF4"/>
                </a:solidFill>
                <a:latin typeface="Sansita"/>
                <a:ea typeface="Sansita"/>
                <a:cs typeface="Sansita"/>
                <a:sym typeface="Sansita"/>
              </a:rPr>
              <a:t>AllFit</a:t>
            </a:r>
            <a:r>
              <a:rPr b="0" i="0" lang="en-US" sz="3399" u="none" cap="none" strike="noStrike">
                <a:solidFill>
                  <a:srgbClr val="E8EFF4"/>
                </a:solidFill>
                <a:latin typeface="Arial"/>
                <a:ea typeface="Arial"/>
                <a:cs typeface="Arial"/>
                <a:sym typeface="Arial"/>
              </a:rPr>
              <a:t> é um programa que coleta informações do usuário (peso, altura, idade etc.) para recomendar a ele um plano de hábitos saudáveis, combinando dieta e uma rotina de exercícios físicos adequados a ele.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8EF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8EFF4"/>
                </a:solidFill>
                <a:latin typeface="Arial"/>
                <a:ea typeface="Arial"/>
                <a:cs typeface="Arial"/>
                <a:sym typeface="Arial"/>
              </a:rPr>
              <a:t>Este plano de hábitos está diretamente ligado à meta que o usuário deseja atingir (perder peso, ganhar massa muscular ou apenas manter-se saudável).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 rot="-10552743">
            <a:off x="135759" y="-2675269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3015608" y="621300"/>
            <a:ext cx="7336789" cy="244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1" u="none" cap="none" strike="noStrike">
                <a:solidFill>
                  <a:srgbClr val="2A5246"/>
                </a:solidFill>
                <a:latin typeface="Knewave"/>
                <a:ea typeface="Knewave"/>
                <a:cs typeface="Knewave"/>
                <a:sym typeface="Knewave"/>
              </a:rPr>
              <a:t>OBJETIVO</a:t>
            </a:r>
            <a:endParaRPr/>
          </a:p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51" u="none" cap="none" strike="noStrike">
              <a:solidFill>
                <a:srgbClr val="2A5246"/>
              </a:solidFill>
              <a:latin typeface="Knewave"/>
              <a:ea typeface="Knewave"/>
              <a:cs typeface="Knewave"/>
              <a:sym typeface="Knewave"/>
            </a:endParaRPr>
          </a:p>
        </p:txBody>
      </p:sp>
      <p:sp>
        <p:nvSpPr>
          <p:cNvPr id="110" name="Google Shape;110;p2"/>
          <p:cNvSpPr/>
          <p:nvPr/>
        </p:nvSpPr>
        <p:spPr>
          <a:xfrm rot="-4879084">
            <a:off x="13667860" y="-2812652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 rot="-5400000">
            <a:off x="4000500" y="-5143500"/>
            <a:ext cx="10287000" cy="20574000"/>
          </a:xfrm>
          <a:custGeom>
            <a:rect b="b" l="l" r="r" t="t"/>
            <a:pathLst>
              <a:path extrusionOk="0" h="20574000" w="10287000">
                <a:moveTo>
                  <a:pt x="0" y="0"/>
                </a:moveTo>
                <a:lnTo>
                  <a:pt x="10287000" y="0"/>
                </a:lnTo>
                <a:lnTo>
                  <a:pt x="10287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>
            <a:off x="14418241" y="6037774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10328817" y="1010377"/>
            <a:ext cx="5367225" cy="4568851"/>
          </a:xfrm>
          <a:custGeom>
            <a:rect b="b" l="l" r="r" t="t"/>
            <a:pathLst>
              <a:path extrusionOk="0" h="4568851" w="5367225">
                <a:moveTo>
                  <a:pt x="0" y="0"/>
                </a:moveTo>
                <a:lnTo>
                  <a:pt x="5367226" y="0"/>
                </a:lnTo>
                <a:lnTo>
                  <a:pt x="5367226" y="4568851"/>
                </a:lnTo>
                <a:lnTo>
                  <a:pt x="0" y="4568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2157167" y="800455"/>
            <a:ext cx="7406926" cy="1221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1" u="none" cap="none" strike="noStrike">
                <a:solidFill>
                  <a:srgbClr val="2A5246"/>
                </a:solidFill>
                <a:latin typeface="Knewave"/>
                <a:ea typeface="Knewave"/>
                <a:cs typeface="Knewave"/>
                <a:sym typeface="Knewave"/>
              </a:rPr>
              <a:t>PÚBLICO-ALVO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564638" y="3914017"/>
            <a:ext cx="8053064" cy="418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0" i="1" lang="en-US" sz="3399" u="none" cap="none" strike="noStrike">
                <a:solidFill>
                  <a:srgbClr val="FFFFFF"/>
                </a:solidFill>
                <a:latin typeface="Sansita"/>
                <a:ea typeface="Sansita"/>
                <a:cs typeface="Sansita"/>
                <a:sym typeface="Sansita"/>
              </a:rPr>
              <a:t>AllFit</a:t>
            </a: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pode ser utilizado por todos os públicos (desde jovens a idosos), mas é especialmente destinado àqueles que anseiam melhorar a autoestima corporal, ou àqueles que simplesmente desejam manter uma rotina mais leve e equilibrada.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 rot="9612408">
            <a:off x="-1276421" y="-3432776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 rot="4745877">
            <a:off x="-683892" y="7358547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 rot="-5287391">
            <a:off x="13614468" y="-2515629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 txBox="1"/>
          <p:nvPr/>
        </p:nvSpPr>
        <p:spPr>
          <a:xfrm>
            <a:off x="1564638" y="2751878"/>
            <a:ext cx="9656244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05BB54"/>
                </a:solidFill>
                <a:latin typeface="Arial"/>
                <a:ea typeface="Arial"/>
                <a:cs typeface="Arial"/>
                <a:sym typeface="Arial"/>
              </a:rPr>
              <a:t>PARA QUEM É O </a:t>
            </a:r>
            <a:r>
              <a:rPr b="0" i="0" lang="en-US" sz="3500" u="sng" cap="none" strike="noStrike">
                <a:solidFill>
                  <a:srgbClr val="05BB54"/>
                </a:solidFill>
                <a:latin typeface="Arial"/>
                <a:ea typeface="Arial"/>
                <a:cs typeface="Arial"/>
                <a:sym typeface="Arial"/>
              </a:rPr>
              <a:t>ALLFIT</a:t>
            </a:r>
            <a:r>
              <a:rPr b="0" i="0" lang="en-US" sz="3500" u="none" cap="none" strike="noStrike">
                <a:solidFill>
                  <a:srgbClr val="05BB54"/>
                </a:solidFill>
                <a:latin typeface="Arial"/>
                <a:ea typeface="Arial"/>
                <a:cs typeface="Arial"/>
                <a:sym typeface="Arial"/>
              </a:rPr>
              <a:t> É INDICADO?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 rot="-5400000">
            <a:off x="3823457" y="-5115498"/>
            <a:ext cx="12128357" cy="24256713"/>
          </a:xfrm>
          <a:custGeom>
            <a:rect b="b" l="l" r="r" t="t"/>
            <a:pathLst>
              <a:path extrusionOk="0" h="24256713" w="12128357">
                <a:moveTo>
                  <a:pt x="0" y="0"/>
                </a:moveTo>
                <a:lnTo>
                  <a:pt x="12128356" y="0"/>
                </a:lnTo>
                <a:lnTo>
                  <a:pt x="12128356" y="24256713"/>
                </a:lnTo>
                <a:lnTo>
                  <a:pt x="0" y="24256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 rot="10800000">
            <a:off x="-723418" y="-1470185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15315049" y="5835950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9" y="0"/>
                </a:lnTo>
                <a:lnTo>
                  <a:pt x="5682119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4"/>
          <p:cNvSpPr txBox="1"/>
          <p:nvPr/>
        </p:nvSpPr>
        <p:spPr>
          <a:xfrm>
            <a:off x="3972603" y="232449"/>
            <a:ext cx="10716418" cy="1432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60" u="none" cap="none" strike="noStrike">
                <a:solidFill>
                  <a:srgbClr val="2A5246"/>
                </a:solidFill>
                <a:latin typeface="Knewave"/>
                <a:ea typeface="Knewave"/>
                <a:cs typeface="Knewave"/>
                <a:sym typeface="Knewave"/>
              </a:rPr>
              <a:t>PILARES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5682118" y="3494397"/>
            <a:ext cx="8515779" cy="49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Cadastrar os dados do usuário;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6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Realizar uma análise personalizada;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6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Planejamento alimentar;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6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Rotina de exercícios;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6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Recomendações práticas e eficientes.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 rot="-4453876">
            <a:off x="4991061" y="3218837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4" y="0"/>
                </a:lnTo>
                <a:lnTo>
                  <a:pt x="540634" y="721721"/>
                </a:lnTo>
                <a:lnTo>
                  <a:pt x="0" y="72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 txBox="1"/>
          <p:nvPr/>
        </p:nvSpPr>
        <p:spPr>
          <a:xfrm>
            <a:off x="4958700" y="2037660"/>
            <a:ext cx="874422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QUAIS AS PRINCIPAIS FUNCIONALIDADES DO </a:t>
            </a:r>
            <a:r>
              <a:rPr b="0" i="0" lang="en-US" sz="3200" u="sng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ALLFIT</a:t>
            </a:r>
            <a:r>
              <a:rPr b="0" i="0" lang="en-US" sz="3200" u="none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 rot="-4453876">
            <a:off x="4936231" y="4335307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1"/>
                </a:lnTo>
                <a:lnTo>
                  <a:pt x="0" y="72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 rot="-4453876">
            <a:off x="4949085" y="5456203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2"/>
                </a:lnTo>
                <a:lnTo>
                  <a:pt x="0" y="721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-4453876">
            <a:off x="4949085" y="6544099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1"/>
                </a:lnTo>
                <a:lnTo>
                  <a:pt x="0" y="72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 rot="-4453876">
            <a:off x="4991061" y="7632508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4" y="0"/>
                </a:lnTo>
                <a:lnTo>
                  <a:pt x="540634" y="721722"/>
                </a:lnTo>
                <a:lnTo>
                  <a:pt x="0" y="721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 rot="4976972">
            <a:off x="-570880" y="7960589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 rot="-739650">
            <a:off x="1373724" y="3535515"/>
            <a:ext cx="2495691" cy="3501608"/>
          </a:xfrm>
          <a:custGeom>
            <a:rect b="b" l="l" r="r" t="t"/>
            <a:pathLst>
              <a:path extrusionOk="0" h="3501608" w="2495691">
                <a:moveTo>
                  <a:pt x="0" y="0"/>
                </a:moveTo>
                <a:lnTo>
                  <a:pt x="2495692" y="0"/>
                </a:lnTo>
                <a:lnTo>
                  <a:pt x="2495692" y="3501608"/>
                </a:lnTo>
                <a:lnTo>
                  <a:pt x="0" y="350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4"/>
          <p:cNvSpPr/>
          <p:nvPr/>
        </p:nvSpPr>
        <p:spPr>
          <a:xfrm rot="-6276809">
            <a:off x="13281562" y="-2880730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4"/>
          <p:cNvSpPr/>
          <p:nvPr/>
        </p:nvSpPr>
        <p:spPr>
          <a:xfrm rot="-4451537">
            <a:off x="5109271" y="8721096"/>
            <a:ext cx="540814" cy="721960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4" y="0"/>
                </a:lnTo>
                <a:lnTo>
                  <a:pt x="540634" y="721722"/>
                </a:lnTo>
                <a:lnTo>
                  <a:pt x="0" y="721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 rot="-5400000">
            <a:off x="4000500" y="-5143500"/>
            <a:ext cx="10287000" cy="20574000"/>
          </a:xfrm>
          <a:custGeom>
            <a:rect b="b" l="l" r="r" t="t"/>
            <a:pathLst>
              <a:path extrusionOk="0" h="20574000" w="10287000">
                <a:moveTo>
                  <a:pt x="0" y="0"/>
                </a:moveTo>
                <a:lnTo>
                  <a:pt x="10287000" y="0"/>
                </a:lnTo>
                <a:lnTo>
                  <a:pt x="10287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5"/>
          <p:cNvSpPr/>
          <p:nvPr/>
        </p:nvSpPr>
        <p:spPr>
          <a:xfrm rot="10293862">
            <a:off x="-730060" y="-3278306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/>
          <p:nvPr/>
        </p:nvSpPr>
        <p:spPr>
          <a:xfrm rot="-5726272">
            <a:off x="14418241" y="-373115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5"/>
          <p:cNvSpPr/>
          <p:nvPr/>
        </p:nvSpPr>
        <p:spPr>
          <a:xfrm>
            <a:off x="2841059" y="2410150"/>
            <a:ext cx="6024643" cy="6335667"/>
          </a:xfrm>
          <a:custGeom>
            <a:rect b="b" l="l" r="r" t="t"/>
            <a:pathLst>
              <a:path extrusionOk="0" h="6335667" w="6024643">
                <a:moveTo>
                  <a:pt x="0" y="0"/>
                </a:moveTo>
                <a:lnTo>
                  <a:pt x="6024643" y="0"/>
                </a:lnTo>
                <a:lnTo>
                  <a:pt x="6024643" y="6335666"/>
                </a:lnTo>
                <a:lnTo>
                  <a:pt x="0" y="6335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5"/>
          <p:cNvSpPr/>
          <p:nvPr/>
        </p:nvSpPr>
        <p:spPr>
          <a:xfrm flipH="1" rot="-5593258">
            <a:off x="9315921" y="6843533"/>
            <a:ext cx="1309255" cy="4114800"/>
          </a:xfrm>
          <a:custGeom>
            <a:rect b="b" l="l" r="r" t="t"/>
            <a:pathLst>
              <a:path extrusionOk="0" h="4114800" w="1309255">
                <a:moveTo>
                  <a:pt x="1309255" y="0"/>
                </a:moveTo>
                <a:lnTo>
                  <a:pt x="0" y="0"/>
                </a:lnTo>
                <a:lnTo>
                  <a:pt x="0" y="4114800"/>
                </a:lnTo>
                <a:lnTo>
                  <a:pt x="1309255" y="4114800"/>
                </a:lnTo>
                <a:lnTo>
                  <a:pt x="1309255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5"/>
          <p:cNvSpPr/>
          <p:nvPr/>
        </p:nvSpPr>
        <p:spPr>
          <a:xfrm rot="5400000">
            <a:off x="-954166" y="7771371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9" y="0"/>
                </a:lnTo>
                <a:lnTo>
                  <a:pt x="5682119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 txBox="1"/>
          <p:nvPr/>
        </p:nvSpPr>
        <p:spPr>
          <a:xfrm>
            <a:off x="4281698" y="2739770"/>
            <a:ext cx="5058300" cy="7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51" u="none" cap="none" strike="noStrike">
                <a:solidFill>
                  <a:srgbClr val="1D4125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51">
              <a:solidFill>
                <a:srgbClr val="1D4125"/>
              </a:solidFill>
            </a:endParaRPr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51" u="none" cap="none" strike="noStrike">
                <a:solidFill>
                  <a:srgbClr val="1D4125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51" u="none" cap="none" strike="noStrike">
                <a:solidFill>
                  <a:srgbClr val="1D4125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451" u="none" cap="none" strike="noStrike">
              <a:solidFill>
                <a:srgbClr val="1D41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106423" y="0"/>
            <a:ext cx="8138869" cy="1448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45" u="none" cap="none" strike="noStrike">
                <a:solidFill>
                  <a:srgbClr val="2A5246"/>
                </a:solidFill>
                <a:latin typeface="Knewave"/>
                <a:ea typeface="Knewave"/>
                <a:cs typeface="Knewave"/>
                <a:sym typeface="Knewave"/>
              </a:rPr>
              <a:t>FERRAMENTAS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2464435" y="1684003"/>
            <a:ext cx="125125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QUAIS LINGUAGENS UTILIZAMOS PARA ESTRUTURAR O </a:t>
            </a:r>
            <a:r>
              <a:rPr b="0" i="0" lang="en-US" sz="2950" u="sng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ALLFIT</a:t>
            </a:r>
            <a:r>
              <a:rPr b="0" i="0" lang="en-US" sz="2950" u="none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8720708" y="6998266"/>
            <a:ext cx="995329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49" u="none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ALÉM DE APLICAR PHOTOSHOP NA </a:t>
            </a:r>
            <a:endParaRPr/>
          </a:p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49" u="none" cap="none" strike="noStrike">
                <a:solidFill>
                  <a:srgbClr val="0ECB61"/>
                </a:solidFill>
                <a:latin typeface="Arial"/>
                <a:ea typeface="Arial"/>
                <a:cs typeface="Arial"/>
                <a:sym typeface="Arial"/>
              </a:rPr>
              <a:t>CRIAÇÃO DE NOSSA LOGO ;)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 rot="-6443919">
            <a:off x="1625242" y="-15228116"/>
            <a:ext cx="17121279" cy="34242559"/>
          </a:xfrm>
          <a:custGeom>
            <a:rect b="b" l="l" r="r" t="t"/>
            <a:pathLst>
              <a:path extrusionOk="0" h="34242559" w="17121279">
                <a:moveTo>
                  <a:pt x="0" y="0"/>
                </a:moveTo>
                <a:lnTo>
                  <a:pt x="17121280" y="0"/>
                </a:lnTo>
                <a:lnTo>
                  <a:pt x="17121280" y="34242559"/>
                </a:lnTo>
                <a:lnTo>
                  <a:pt x="0" y="342425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6"/>
          <p:cNvSpPr/>
          <p:nvPr/>
        </p:nvSpPr>
        <p:spPr>
          <a:xfrm rot="10093881">
            <a:off x="-753160" y="-3447033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6"/>
          <p:cNvSpPr txBox="1"/>
          <p:nvPr/>
        </p:nvSpPr>
        <p:spPr>
          <a:xfrm>
            <a:off x="4364707" y="2251260"/>
            <a:ext cx="12308400" cy="8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Conteúdo adaptado de acordo com a necessidade e preferência do usuário;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Integração entre dieta e treino;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Interface simples e acessível;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Foco na praticidade, facilitando o início de novos hábitos equilibrados;</a:t>
            </a:r>
            <a:endParaRPr/>
          </a:p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>
                <a:solidFill>
                  <a:srgbClr val="FFFFFF"/>
                </a:solidFill>
              </a:rPr>
              <a:t>Auxilia iniciantes a ingressarem na nova rotina.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9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2087899" y="673963"/>
            <a:ext cx="12343683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1" u="none" cap="none" strike="noStrike">
                <a:solidFill>
                  <a:srgbClr val="2A5246"/>
                </a:solidFill>
                <a:latin typeface="Knewave"/>
                <a:ea typeface="Knewave"/>
                <a:cs typeface="Knewave"/>
                <a:sym typeface="Knewave"/>
              </a:rPr>
              <a:t>DIFERENCIAIS DO ALLFIT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 rot="-4453876">
            <a:off x="3722049" y="2382974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2"/>
                </a:lnTo>
                <a:lnTo>
                  <a:pt x="0" y="721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6"/>
          <p:cNvSpPr/>
          <p:nvPr/>
        </p:nvSpPr>
        <p:spPr>
          <a:xfrm rot="-4453876">
            <a:off x="3673640" y="4262522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1"/>
                </a:lnTo>
                <a:lnTo>
                  <a:pt x="0" y="72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6"/>
          <p:cNvSpPr/>
          <p:nvPr/>
        </p:nvSpPr>
        <p:spPr>
          <a:xfrm rot="-4453876">
            <a:off x="3722049" y="5393334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2"/>
                </a:lnTo>
                <a:lnTo>
                  <a:pt x="0" y="721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6"/>
          <p:cNvSpPr/>
          <p:nvPr/>
        </p:nvSpPr>
        <p:spPr>
          <a:xfrm rot="-4453876">
            <a:off x="3722049" y="6721225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1"/>
                </a:lnTo>
                <a:lnTo>
                  <a:pt x="0" y="72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 rot="-4453876">
            <a:off x="3722049" y="8361570"/>
            <a:ext cx="540635" cy="721721"/>
          </a:xfrm>
          <a:custGeom>
            <a:rect b="b" l="l" r="r" t="t"/>
            <a:pathLst>
              <a:path extrusionOk="0" h="721721" w="540635">
                <a:moveTo>
                  <a:pt x="0" y="0"/>
                </a:moveTo>
                <a:lnTo>
                  <a:pt x="540635" y="0"/>
                </a:lnTo>
                <a:lnTo>
                  <a:pt x="540635" y="721721"/>
                </a:lnTo>
                <a:lnTo>
                  <a:pt x="0" y="72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 rot="-5996320">
            <a:off x="15889058" y="-622465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 rot="5045617">
            <a:off x="-3547789" y="5203506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9" y="0"/>
                </a:lnTo>
                <a:lnTo>
                  <a:pt x="5682119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 rot="-68473">
            <a:off x="15811430" y="5810281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9" y="0"/>
                </a:lnTo>
                <a:lnTo>
                  <a:pt x="5682119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 rot="-5400000">
            <a:off x="4000500" y="-5143500"/>
            <a:ext cx="10287000" cy="20574000"/>
          </a:xfrm>
          <a:custGeom>
            <a:rect b="b" l="l" r="r" t="t"/>
            <a:pathLst>
              <a:path extrusionOk="0" h="20574000" w="10287000">
                <a:moveTo>
                  <a:pt x="0" y="0"/>
                </a:moveTo>
                <a:lnTo>
                  <a:pt x="10287000" y="0"/>
                </a:lnTo>
                <a:lnTo>
                  <a:pt x="10287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7"/>
          <p:cNvSpPr/>
          <p:nvPr/>
        </p:nvSpPr>
        <p:spPr>
          <a:xfrm rot="10800000">
            <a:off x="-568623" y="-1886278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7"/>
          <p:cNvSpPr txBox="1"/>
          <p:nvPr/>
        </p:nvSpPr>
        <p:spPr>
          <a:xfrm>
            <a:off x="3042570" y="2781378"/>
            <a:ext cx="12202859" cy="5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8EFF4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0" i="1" lang="en-US" sz="3399" u="none" cap="none" strike="noStrike">
                <a:solidFill>
                  <a:srgbClr val="E8EFF4"/>
                </a:solidFill>
                <a:latin typeface="Sansita"/>
                <a:ea typeface="Sansita"/>
                <a:cs typeface="Sansita"/>
                <a:sym typeface="Sansita"/>
              </a:rPr>
              <a:t>AllFit</a:t>
            </a:r>
            <a:r>
              <a:rPr b="0" i="0" lang="en-US" sz="3399" u="none" cap="none" strike="noStrike">
                <a:solidFill>
                  <a:srgbClr val="E8EFF4"/>
                </a:solidFill>
                <a:latin typeface="Arial"/>
                <a:ea typeface="Arial"/>
                <a:cs typeface="Arial"/>
                <a:sym typeface="Arial"/>
              </a:rPr>
              <a:t> busca incentivar mudanças positivas no dia-a-dia que contribuem para uma melhor qualidade de vida.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8EF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8EF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8EFF4"/>
                </a:solidFill>
                <a:latin typeface="Arial"/>
                <a:ea typeface="Arial"/>
                <a:cs typeface="Arial"/>
                <a:sym typeface="Arial"/>
              </a:rPr>
              <a:t>Com o </a:t>
            </a:r>
            <a:r>
              <a:rPr b="0" i="1" lang="en-US" sz="3399" u="none" cap="none" strike="noStrike">
                <a:solidFill>
                  <a:srgbClr val="E8EFF4"/>
                </a:solidFill>
                <a:latin typeface="Sansita"/>
                <a:ea typeface="Sansita"/>
                <a:cs typeface="Sansita"/>
                <a:sym typeface="Sansita"/>
              </a:rPr>
              <a:t>AllFit</a:t>
            </a:r>
            <a:r>
              <a:rPr b="0" i="0" lang="en-US" sz="3399" u="none" cap="none" strike="noStrike">
                <a:solidFill>
                  <a:srgbClr val="E8EFF4"/>
                </a:solidFill>
                <a:latin typeface="Arial"/>
                <a:ea typeface="Arial"/>
                <a:cs typeface="Arial"/>
                <a:sym typeface="Arial"/>
              </a:rPr>
              <a:t>, cuidar da sua saúde se torna simples, rápido e adaptado à você. Inclua-o hoje e sinta a diferença no seu cotidiano !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E8EF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4836412" y="6137017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7"/>
          <p:cNvSpPr txBox="1"/>
          <p:nvPr/>
        </p:nvSpPr>
        <p:spPr>
          <a:xfrm>
            <a:off x="5846207" y="1028700"/>
            <a:ext cx="6595586" cy="1322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18" u="none" cap="none" strike="noStrike">
                <a:solidFill>
                  <a:srgbClr val="2A5246"/>
                </a:solidFill>
                <a:latin typeface="Knewave"/>
                <a:ea typeface="Knewave"/>
                <a:cs typeface="Knewave"/>
                <a:sym typeface="Knewave"/>
              </a:rPr>
              <a:t>CONCLUSÃO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 rot="5046454">
            <a:off x="-2592492" y="5646739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9" y="0"/>
                </a:lnTo>
                <a:lnTo>
                  <a:pt x="5682119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7"/>
          <p:cNvSpPr/>
          <p:nvPr/>
        </p:nvSpPr>
        <p:spPr>
          <a:xfrm rot="-6405369">
            <a:off x="14031409" y="-956224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 rot="-5400000">
            <a:off x="4000500" y="-5143500"/>
            <a:ext cx="10287000" cy="20574000"/>
          </a:xfrm>
          <a:custGeom>
            <a:rect b="b" l="l" r="r" t="t"/>
            <a:pathLst>
              <a:path extrusionOk="0" h="20574000" w="10287000">
                <a:moveTo>
                  <a:pt x="0" y="0"/>
                </a:moveTo>
                <a:lnTo>
                  <a:pt x="10287000" y="0"/>
                </a:lnTo>
                <a:lnTo>
                  <a:pt x="10287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8"/>
          <p:cNvSpPr/>
          <p:nvPr/>
        </p:nvSpPr>
        <p:spPr>
          <a:xfrm rot="10800000">
            <a:off x="-1143000" y="-878161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8" y="0"/>
                </a:lnTo>
                <a:lnTo>
                  <a:pt x="5682118" y="5031257"/>
                </a:lnTo>
                <a:lnTo>
                  <a:pt x="0" y="503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8"/>
          <p:cNvSpPr/>
          <p:nvPr/>
        </p:nvSpPr>
        <p:spPr>
          <a:xfrm>
            <a:off x="13635517" y="6121588"/>
            <a:ext cx="5682118" cy="5031258"/>
          </a:xfrm>
          <a:custGeom>
            <a:rect b="b" l="l" r="r" t="t"/>
            <a:pathLst>
              <a:path extrusionOk="0" h="5031258" w="5682118">
                <a:moveTo>
                  <a:pt x="0" y="0"/>
                </a:moveTo>
                <a:lnTo>
                  <a:pt x="5682119" y="0"/>
                </a:lnTo>
                <a:lnTo>
                  <a:pt x="5682119" y="5031258"/>
                </a:lnTo>
                <a:lnTo>
                  <a:pt x="0" y="5031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8"/>
          <p:cNvSpPr/>
          <p:nvPr/>
        </p:nvSpPr>
        <p:spPr>
          <a:xfrm>
            <a:off x="13635517" y="1118274"/>
            <a:ext cx="1062827" cy="1062827"/>
          </a:xfrm>
          <a:custGeom>
            <a:rect b="b" l="l" r="r" t="t"/>
            <a:pathLst>
              <a:path extrusionOk="0" h="1062827" w="1062827">
                <a:moveTo>
                  <a:pt x="0" y="0"/>
                </a:moveTo>
                <a:lnTo>
                  <a:pt x="1062827" y="0"/>
                </a:lnTo>
                <a:lnTo>
                  <a:pt x="1062827" y="1062827"/>
                </a:lnTo>
                <a:lnTo>
                  <a:pt x="0" y="1062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8"/>
          <p:cNvSpPr/>
          <p:nvPr/>
        </p:nvSpPr>
        <p:spPr>
          <a:xfrm>
            <a:off x="14883396" y="2470354"/>
            <a:ext cx="532219" cy="532219"/>
          </a:xfrm>
          <a:custGeom>
            <a:rect b="b" l="l" r="r" t="t"/>
            <a:pathLst>
              <a:path extrusionOk="0" h="532219" w="532219">
                <a:moveTo>
                  <a:pt x="0" y="0"/>
                </a:moveTo>
                <a:lnTo>
                  <a:pt x="532218" y="0"/>
                </a:lnTo>
                <a:lnTo>
                  <a:pt x="532218" y="532219"/>
                </a:lnTo>
                <a:lnTo>
                  <a:pt x="0" y="532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8"/>
          <p:cNvSpPr/>
          <p:nvPr/>
        </p:nvSpPr>
        <p:spPr>
          <a:xfrm>
            <a:off x="6796178" y="433529"/>
            <a:ext cx="3974317" cy="1369492"/>
          </a:xfrm>
          <a:custGeom>
            <a:rect b="b" l="l" r="r" t="t"/>
            <a:pathLst>
              <a:path extrusionOk="0" h="1369492" w="3974317">
                <a:moveTo>
                  <a:pt x="0" y="0"/>
                </a:moveTo>
                <a:lnTo>
                  <a:pt x="3974317" y="0"/>
                </a:lnTo>
                <a:lnTo>
                  <a:pt x="3974317" y="1369491"/>
                </a:lnTo>
                <a:lnTo>
                  <a:pt x="0" y="1369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07108" l="0" r="-8372" t="-107397"/>
            </a:stretch>
          </a:blip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470290" y="6113148"/>
            <a:ext cx="3879761" cy="3632867"/>
          </a:xfrm>
          <a:custGeom>
            <a:rect b="b" l="l" r="r" t="t"/>
            <a:pathLst>
              <a:path extrusionOk="0" h="3632867" w="3879761">
                <a:moveTo>
                  <a:pt x="0" y="0"/>
                </a:moveTo>
                <a:lnTo>
                  <a:pt x="3879761" y="0"/>
                </a:lnTo>
                <a:lnTo>
                  <a:pt x="3879761" y="3632867"/>
                </a:lnTo>
                <a:lnTo>
                  <a:pt x="0" y="3632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8"/>
          <p:cNvSpPr txBox="1"/>
          <p:nvPr/>
        </p:nvSpPr>
        <p:spPr>
          <a:xfrm>
            <a:off x="3982728" y="2470354"/>
            <a:ext cx="10322544" cy="3365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7" u="none" cap="none" strike="noStrike">
                <a:solidFill>
                  <a:srgbClr val="2A5246"/>
                </a:solidFill>
                <a:latin typeface="Knewave"/>
                <a:ea typeface="Knewave"/>
                <a:cs typeface="Knewave"/>
                <a:sym typeface="Knewave"/>
              </a:rPr>
              <a:t>AGRADECEMOS A SUA ATENÇÃO!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